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754" y="62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053755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065A82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572000"/>
            <a:ext cx="4114800" cy="4114800"/>
          </a:xfrm>
          <a:prstGeom prst="ellipse">
            <a:avLst/>
          </a:prstGeom>
          <a:solidFill>
            <a:srgbClr val="1C7293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676400" y="2440305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kern="0" spc="200" dirty="0">
                <a:solidFill>
                  <a:srgbClr val="CADC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CSA0624-DESIGN AND ANALYSIS OF ALGORITHMS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2057400" y="1089363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Divide &amp; Conquer Algorithms</a:t>
            </a:r>
            <a:endParaRPr lang="en-US" sz="4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CC09190-D2E2-49AE-D89A-F21CAEAFB255}"/>
              </a:ext>
            </a:extLst>
          </p:cNvPr>
          <p:cNvSpPr txBox="1"/>
          <p:nvPr/>
        </p:nvSpPr>
        <p:spPr>
          <a:xfrm>
            <a:off x="7092315" y="3727936"/>
            <a:ext cx="33718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Presented by </a:t>
            </a:r>
            <a:br>
              <a:rPr lang="en-US" dirty="0">
                <a:solidFill>
                  <a:schemeClr val="bg2"/>
                </a:solidFill>
              </a:rPr>
            </a:br>
            <a:r>
              <a:rPr lang="en-US" dirty="0" err="1">
                <a:solidFill>
                  <a:schemeClr val="bg2"/>
                </a:solidFill>
              </a:rPr>
              <a:t>Ganji</a:t>
            </a:r>
            <a:r>
              <a:rPr lang="en-US" dirty="0">
                <a:solidFill>
                  <a:schemeClr val="bg2"/>
                </a:solidFill>
              </a:rPr>
              <a:t> Madhan Kumar</a:t>
            </a:r>
            <a:br>
              <a:rPr lang="en-US" dirty="0">
                <a:solidFill>
                  <a:schemeClr val="bg2"/>
                </a:solidFill>
              </a:rPr>
            </a:br>
            <a:r>
              <a:rPr lang="en-US" dirty="0">
                <a:solidFill>
                  <a:schemeClr val="bg2"/>
                </a:solidFill>
              </a:rPr>
              <a:t>19247228</a:t>
            </a:r>
            <a:endParaRPr lang="en-IN" dirty="0">
              <a:solidFill>
                <a:schemeClr val="bg2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A691C53-FA7E-964A-1DD9-2D7D96691372}"/>
              </a:ext>
            </a:extLst>
          </p:cNvPr>
          <p:cNvSpPr txBox="1"/>
          <p:nvPr/>
        </p:nvSpPr>
        <p:spPr>
          <a:xfrm>
            <a:off x="2657475" y="3866436"/>
            <a:ext cx="27603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Guided by</a:t>
            </a:r>
            <a:br>
              <a:rPr lang="en-US" dirty="0">
                <a:solidFill>
                  <a:schemeClr val="bg2"/>
                </a:solidFill>
              </a:rPr>
            </a:br>
            <a:r>
              <a:rPr lang="en-US" dirty="0" err="1">
                <a:solidFill>
                  <a:schemeClr val="bg2"/>
                </a:solidFill>
              </a:rPr>
              <a:t>Gnanajeyaraman</a:t>
            </a:r>
            <a:r>
              <a:rPr lang="en-US" dirty="0">
                <a:solidFill>
                  <a:schemeClr val="bg2"/>
                </a:solidFill>
              </a:rPr>
              <a:t> Rajaram</a:t>
            </a:r>
            <a:endParaRPr lang="en-IN" dirty="0">
              <a:solidFill>
                <a:schemeClr val="bg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9354312" y="41148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9354312" y="411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50876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17320" y="14630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of divide and conquer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17320" y="181051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break, solve, and combine strategy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242316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417320" y="23774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recurrence relation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17320" y="272491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Expressing running time as T(n) = aT(n/b) + f(n)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333756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337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417320" y="32918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Master theorem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17320" y="363931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cases that solve common recurrences directly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425196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251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417320" y="42062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417320" y="455371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sort and binary search, analyzed step by step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0080" y="516636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5166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417320" y="51206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Advantages, limitations &amp; takeaways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417320" y="546811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divide and conquer helps, and where it falls short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&amp; Conquer Algorithms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divide and conquer strategy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9354312" y="41148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9354312" y="411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82396" y="2286000"/>
            <a:ext cx="3200400" cy="2286000"/>
          </a:xfrm>
          <a:prstGeom prst="roundRect">
            <a:avLst>
              <a:gd name="adj" fmla="val 4800"/>
            </a:avLst>
          </a:prstGeom>
          <a:solidFill>
            <a:srgbClr val="EEF3F6"/>
          </a:solidFill>
          <a:ln w="12700">
            <a:solidFill>
              <a:srgbClr val="D6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62556" y="256032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2162556" y="2560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110996" y="3383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kern="0" spc="1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156716" y="374904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the problem into a smaller subproblems, each of size n/b.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137660" y="3291840"/>
            <a:ext cx="301752" cy="274320"/>
          </a:xfrm>
          <a:prstGeom prst="rightArrow">
            <a:avLst/>
          </a:prstGeom>
          <a:solidFill>
            <a:srgbClr val="D6E0E6"/>
          </a:solidFill>
          <a:ln/>
        </p:spPr>
      </p:sp>
      <p:sp>
        <p:nvSpPr>
          <p:cNvPr id="11" name="Shape 9"/>
          <p:cNvSpPr/>
          <p:nvPr/>
        </p:nvSpPr>
        <p:spPr>
          <a:xfrm>
            <a:off x="4494276" y="2286000"/>
            <a:ext cx="3200400" cy="2286000"/>
          </a:xfrm>
          <a:prstGeom prst="roundRect">
            <a:avLst>
              <a:gd name="adj" fmla="val 4800"/>
            </a:avLst>
          </a:prstGeom>
          <a:solidFill>
            <a:srgbClr val="EEF3F6"/>
          </a:solidFill>
          <a:ln w="12700">
            <a:solidFill>
              <a:srgbClr val="D6E0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774436" y="256032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5774436" y="2560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722876" y="3383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CONQUER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768596" y="374904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each subproblem recursively, applying the same strategy.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749540" y="3291840"/>
            <a:ext cx="301752" cy="274320"/>
          </a:xfrm>
          <a:prstGeom prst="rightArrow">
            <a:avLst/>
          </a:prstGeom>
          <a:solidFill>
            <a:srgbClr val="D6E0E6"/>
          </a:solidFill>
          <a:ln/>
        </p:spPr>
      </p:sp>
      <p:sp>
        <p:nvSpPr>
          <p:cNvPr id="17" name="Shape 15"/>
          <p:cNvSpPr/>
          <p:nvPr/>
        </p:nvSpPr>
        <p:spPr>
          <a:xfrm>
            <a:off x="8106156" y="2286000"/>
            <a:ext cx="3200400" cy="2286000"/>
          </a:xfrm>
          <a:prstGeom prst="roundRect">
            <a:avLst>
              <a:gd name="adj" fmla="val 4800"/>
            </a:avLst>
          </a:prstGeom>
          <a:solidFill>
            <a:srgbClr val="EEF3F6"/>
          </a:solidFill>
          <a:ln w="12700">
            <a:solidFill>
              <a:srgbClr val="D6E0E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386316" y="2560320"/>
            <a:ext cx="640080" cy="64008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9" name="Text 17"/>
          <p:cNvSpPr/>
          <p:nvPr/>
        </p:nvSpPr>
        <p:spPr>
          <a:xfrm>
            <a:off x="9386316" y="2560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334756" y="3383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kern="0" spc="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380476" y="374904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the subproblem solutions, at cost f(n), into the final answer.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22960" y="50749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merge sort divides the array in half, recursively sorts each half, then merges the two sorted halves.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&amp; Conquer Algorithms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Forming the recurrence relation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9354312" y="41148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9354312" y="411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RECURRENCE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5394960" cy="4297680"/>
          </a:xfrm>
          <a:prstGeom prst="roundRect">
            <a:avLst>
              <a:gd name="adj" fmla="val 2128"/>
            </a:avLst>
          </a:prstGeom>
          <a:solidFill>
            <a:srgbClr val="21295C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7830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template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2240280"/>
            <a:ext cx="47548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Solve(problem, n):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n &lt;= base_case: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base_result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divide problem into a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subproblems, each of size n/b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each subproblem: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Solve(subproblem, n/b)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combine the a results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(this step costs f(n))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309360" y="1554480"/>
            <a:ext cx="5212080" cy="1828800"/>
          </a:xfrm>
          <a:prstGeom prst="roundRect">
            <a:avLst>
              <a:gd name="adj" fmla="val 5000"/>
            </a:avLst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6309360" y="1554480"/>
            <a:ext cx="5212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T(n) = aT(n/b) + f(n)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6309360" y="37033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EEF3F6"/>
          </a:solidFill>
          <a:ln w="12700">
            <a:solidFill>
              <a:srgbClr val="D6E0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3703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995160" y="3721608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 of subproblems created at each recursive step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309360" y="43891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EEF3F6"/>
          </a:solidFill>
          <a:ln w="12700">
            <a:solidFill>
              <a:srgbClr val="D6E0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4389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995160" y="4407408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factor by which the input size shrinks in each subproblem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309360" y="50749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EEF3F6"/>
          </a:solidFill>
          <a:ln w="12700">
            <a:solidFill>
              <a:srgbClr val="D6E0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5074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f(n)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995160" y="5093208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 of the divide and combine work outside the recursive calls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&amp; Conquer Algorithms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Divide and conquer in practice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9354312" y="41148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9354312" y="411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54480"/>
          <a:ext cx="10881360" cy="4206240"/>
        </p:xfrm>
        <a:graphic>
          <a:graphicData uri="http://schemas.openxmlformats.org/drawingml/2006/table">
            <a:tbl>
              <a:tblPr/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01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Algorithm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Recurrence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Master theorem case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complexity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Binary search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T(n) = T(n/2) + O(1)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Case 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Θ(log n)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Merge sort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T(n) = 2T(n/2) + O(n)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Case 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Θ(n log n)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Quick sort (average)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T(n) = 2T(n/2) + O(n)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Case 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Θ(n log n)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Karatsuba multiplication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T(n) = 3T(n/2) + O(n)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Case 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Θ(n^1.585)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Strassen's matrix multiplication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T(n) = 7T(n/2) + O(n^2)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Case 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Θ(n^2.81)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&amp; Conquer Algorithms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Master theorem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9354312" y="41148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21295C"/>
          </a:solidFill>
          <a:ln/>
        </p:spPr>
      </p:sp>
      <p:sp>
        <p:nvSpPr>
          <p:cNvPr id="4" name="Text 2"/>
          <p:cNvSpPr/>
          <p:nvPr/>
        </p:nvSpPr>
        <p:spPr>
          <a:xfrm>
            <a:off x="9354312" y="411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THEOREM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665476" y="1554480"/>
            <a:ext cx="6858000" cy="1280160"/>
          </a:xfrm>
          <a:prstGeom prst="roundRect">
            <a:avLst>
              <a:gd name="adj" fmla="val 7143"/>
            </a:avLst>
          </a:prstGeom>
          <a:solidFill>
            <a:srgbClr val="21295C"/>
          </a:solidFill>
          <a:ln/>
        </p:spPr>
      </p:sp>
      <p:sp>
        <p:nvSpPr>
          <p:cNvPr id="6" name="Text 4"/>
          <p:cNvSpPr/>
          <p:nvPr/>
        </p:nvSpPr>
        <p:spPr>
          <a:xfrm>
            <a:off x="2665476" y="1554480"/>
            <a:ext cx="6858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T(n) = aT(n/b) + f(n),   a ≥ 1, b &gt; 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14400" y="306324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Master theorem gives a direct, closed-form solution to this recurrence without needing to unroll the recursion tree by hand.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463040" y="3794760"/>
            <a:ext cx="9235440" cy="1737360"/>
          </a:xfrm>
          <a:prstGeom prst="roundRect">
            <a:avLst>
              <a:gd name="adj" fmla="val 5263"/>
            </a:avLst>
          </a:prstGeom>
          <a:solidFill>
            <a:srgbClr val="EEF3F6"/>
          </a:solidFill>
          <a:ln w="12700">
            <a:solidFill>
              <a:srgbClr val="D6E0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83080" y="397764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comparison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783080" y="4389120"/>
            <a:ext cx="8595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case of the theorem compares the combine cost f(n) against n^(logₘ a) — the cost contributed by the recursive branching itself. Which term grows faster determines the outcome.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&amp; Conquer Algorithms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cases, branching from f(n)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9354312" y="41148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9354312" y="411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CASES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99516" y="1463040"/>
            <a:ext cx="3383280" cy="4114800"/>
          </a:xfrm>
          <a:prstGeom prst="roundRect">
            <a:avLst>
              <a:gd name="adj" fmla="val 3243"/>
            </a:avLst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973836" y="169164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1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73836" y="2194560"/>
            <a:ext cx="2834640" cy="0"/>
          </a:xfrm>
          <a:prstGeom prst="line">
            <a:avLst/>
          </a:prstGeom>
          <a:noFill/>
          <a:ln w="9525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3836" y="23317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973836" y="2606040"/>
            <a:ext cx="2834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f(n) = O(n^(logₘ a − ε)) for some ε &gt; 0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73836" y="361188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Recursion dominates the total cost.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73836" y="4526280"/>
            <a:ext cx="2834640" cy="777240"/>
          </a:xfrm>
          <a:prstGeom prst="roundRect">
            <a:avLst>
              <a:gd name="adj" fmla="val 9412"/>
            </a:avLst>
          </a:prstGeom>
          <a:solidFill>
            <a:srgbClr val="FFFFFF">
              <a:alpha val="88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973836" y="452628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Θ(n^logₘ a)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402836" y="1463040"/>
            <a:ext cx="3383280" cy="4114800"/>
          </a:xfrm>
          <a:prstGeom prst="roundRect">
            <a:avLst>
              <a:gd name="adj" fmla="val 3243"/>
            </a:avLst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4677156" y="169164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2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677156" y="2194560"/>
            <a:ext cx="2834640" cy="0"/>
          </a:xfrm>
          <a:prstGeom prst="line">
            <a:avLst/>
          </a:prstGeom>
          <a:noFill/>
          <a:ln w="9525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77156" y="23317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677156" y="2606040"/>
            <a:ext cx="2834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f(n) = Θ(n^logₘ a)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677156" y="361188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Recursion and combine cost balance evenly.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77156" y="4526280"/>
            <a:ext cx="2834640" cy="777240"/>
          </a:xfrm>
          <a:prstGeom prst="roundRect">
            <a:avLst>
              <a:gd name="adj" fmla="val 9412"/>
            </a:avLst>
          </a:prstGeom>
          <a:solidFill>
            <a:srgbClr val="FFFFFF">
              <a:alpha val="88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4677156" y="452628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Θ(n^logₘ a · log n)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8106156" y="1463040"/>
            <a:ext cx="3383280" cy="4114800"/>
          </a:xfrm>
          <a:prstGeom prst="roundRect">
            <a:avLst>
              <a:gd name="adj" fmla="val 3243"/>
            </a:avLst>
          </a:prstGeom>
          <a:solidFill>
            <a:srgbClr val="21295C"/>
          </a:solidFill>
          <a:ln/>
        </p:spPr>
      </p:sp>
      <p:sp>
        <p:nvSpPr>
          <p:cNvPr id="22" name="Text 20"/>
          <p:cNvSpPr/>
          <p:nvPr/>
        </p:nvSpPr>
        <p:spPr>
          <a:xfrm>
            <a:off x="8380476" y="169164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3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8380476" y="2194560"/>
            <a:ext cx="2834640" cy="0"/>
          </a:xfrm>
          <a:prstGeom prst="line">
            <a:avLst/>
          </a:prstGeom>
          <a:noFill/>
          <a:ln w="9525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80476" y="23317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380476" y="2606040"/>
            <a:ext cx="2834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f(n) = Ω(n^(logₘ a + ε)) for some ε &gt; 0, plus a regularity condition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380476" y="361188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combine step dominates the total cost.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380476" y="4526280"/>
            <a:ext cx="2834640" cy="777240"/>
          </a:xfrm>
          <a:prstGeom prst="roundRect">
            <a:avLst>
              <a:gd name="adj" fmla="val 9412"/>
            </a:avLst>
          </a:prstGeom>
          <a:solidFill>
            <a:srgbClr val="FFFFFF">
              <a:alpha val="88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8380476" y="452628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Θ(f(n))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&amp; Conquer Algorithms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 example: merge sort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9354312" y="41148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9354312" y="411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SORT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80160" y="15544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Recurrence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291840" y="155448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T(n) = 2T(n/2) + O(n)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42316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80160" y="23774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291840" y="237744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2,  b = 2,  f(n) = O(n)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24612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80160" y="32004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n^logₘ a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291840" y="320040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n^log₂ 2 = n^1 = 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406908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80160" y="40233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3291840" y="402336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f(n) = Θ(n) matches n^logₘ a = 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" y="489204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4892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280160" y="48463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case 2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3291840" y="484632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T(n) = Θ(n log n)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138160" y="1737360"/>
            <a:ext cx="3383280" cy="3291840"/>
          </a:xfrm>
          <a:prstGeom prst="roundRect">
            <a:avLst>
              <a:gd name="adj" fmla="val 3333"/>
            </a:avLst>
          </a:prstGeom>
          <a:solidFill>
            <a:srgbClr val="065A82"/>
          </a:solidFill>
          <a:ln/>
        </p:spPr>
      </p:sp>
      <p:sp>
        <p:nvSpPr>
          <p:cNvPr id="26" name="Text 24"/>
          <p:cNvSpPr/>
          <p:nvPr/>
        </p:nvSpPr>
        <p:spPr>
          <a:xfrm>
            <a:off x="8138160" y="21945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321040" y="274320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T(n) = Θ(n log n)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8138160" y="43891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Case 2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&amp; Conquer Algorithms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 example: binary search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9354312" y="41148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9354312" y="411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SEARCH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80160" y="15544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Recurrence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291840" y="155448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T(n) = T(n/2) + O(1)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42316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80160" y="23774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291840" y="237744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1,  b = 2,  f(n) = O(1)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24612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80160" y="32004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n^logₘ a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291840" y="320040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n^log₂ 1 = n^0 = 1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406908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80160" y="40233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3291840" y="402336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f(n) = Θ(1) matches n^logₘ a = 1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" y="489204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4892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280160" y="48463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case 2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3291840" y="484632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T(n) = Θ(log n)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138160" y="1737360"/>
            <a:ext cx="3383280" cy="3291840"/>
          </a:xfrm>
          <a:prstGeom prst="roundRect">
            <a:avLst>
              <a:gd name="adj" fmla="val 3333"/>
            </a:avLst>
          </a:prstGeom>
          <a:solidFill>
            <a:srgbClr val="1C7293"/>
          </a:solidFill>
          <a:ln/>
        </p:spPr>
      </p:sp>
      <p:sp>
        <p:nvSpPr>
          <p:cNvPr id="26" name="Text 24"/>
          <p:cNvSpPr/>
          <p:nvPr/>
        </p:nvSpPr>
        <p:spPr>
          <a:xfrm>
            <a:off x="8138160" y="21945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321040" y="274320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T(n) = Θ(log n)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8138160" y="43891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Case 2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&amp; Conquer Algorithms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 and limitations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9354312" y="41148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9354312" y="411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5257800" cy="4572000"/>
          </a:xfrm>
          <a:prstGeom prst="roundRect">
            <a:avLst>
              <a:gd name="adj" fmla="val 2000"/>
            </a:avLst>
          </a:prstGeom>
          <a:solidFill>
            <a:srgbClr val="EEF3F6"/>
          </a:solidFill>
          <a:ln w="12700">
            <a:solidFill>
              <a:srgbClr val="D6E0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828800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60120" y="2496312"/>
            <a:ext cx="146304" cy="14630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1234440" y="2359152"/>
            <a:ext cx="4343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achieves efficient complexity, such as O(n log n), for problems that would be O(n²) with a naive approach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960120" y="3410712"/>
            <a:ext cx="146304" cy="14630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1234440" y="3273552"/>
            <a:ext cx="4343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Subproblems are independent, making the approach naturally parallelizable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960120" y="4325112"/>
            <a:ext cx="146304" cy="14630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1234440" y="4187952"/>
            <a:ext cx="4343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 complex problems into smaller, more manageable, self-similar pieces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60120" y="5239512"/>
            <a:ext cx="146304" cy="14630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1234440" y="5102352"/>
            <a:ext cx="4343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Master theorem gives a fast, reliable way to analyze the resulting complexity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63640" y="1554480"/>
            <a:ext cx="5257800" cy="4572000"/>
          </a:xfrm>
          <a:prstGeom prst="roundRect">
            <a:avLst>
              <a:gd name="adj" fmla="val 2000"/>
            </a:avLst>
          </a:prstGeom>
          <a:solidFill>
            <a:srgbClr val="EEF3F6"/>
          </a:solidFill>
          <a:ln w="12700">
            <a:solidFill>
              <a:srgbClr val="D6E0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0" y="1828800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583680" y="2496312"/>
            <a:ext cx="146304" cy="146304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0" y="2359152"/>
            <a:ext cx="4343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 calls add call-stack overhead compared to purely iterative methods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583680" y="3410712"/>
            <a:ext cx="146304" cy="146304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0" y="3273552"/>
            <a:ext cx="4343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small n, the overhead of recursion can outweigh the benefit of dividing the problem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583680" y="4325112"/>
            <a:ext cx="146304" cy="146304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0" y="4187952"/>
            <a:ext cx="4343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Master theorem doesn't cover every recurrence — non-polynomial f(n) or unequal subproblem sizes fall outside it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583680" y="5239512"/>
            <a:ext cx="146304" cy="146304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0" y="5102352"/>
            <a:ext cx="4343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combine step is expensive (Case 3), it can become the dominant bottleneck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&amp; Conquer Algorithms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011680"/>
            <a:ext cx="5486400" cy="5486400"/>
          </a:xfrm>
          <a:prstGeom prst="ellipse">
            <a:avLst/>
          </a:prstGeom>
          <a:solidFill>
            <a:srgbClr val="065A82">
              <a:alpha val="3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6400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60020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417320" y="1581912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and conquer breaks a problem into smaller, independent subproblems solved recursively.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31520" y="246888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17320" y="2450592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recurrence T(n) = aT(n/b) + f(n) formalizes the resulting running time.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731520" y="333756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417320" y="3319272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Master theorem solves this recurrence directly by comparing f(n) to n^logₘ a.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731520" y="420624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417320" y="4187952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 1, 2, and 3 correspond to recursion-dominant, balanced, and combine-dominant costs.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777240" y="5532120"/>
            <a:ext cx="1280160" cy="0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56692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731520" y="6172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1155</Words>
  <Application>Microsoft Office PowerPoint</Application>
  <PresentationFormat>Widescreen</PresentationFormat>
  <Paragraphs>196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Cambria</vt:lpstr>
      <vt:lpstr>Courier New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MADHAN GANJI</cp:lastModifiedBy>
  <cp:revision>2</cp:revision>
  <dcterms:created xsi:type="dcterms:W3CDTF">2026-07-19T15:56:15Z</dcterms:created>
  <dcterms:modified xsi:type="dcterms:W3CDTF">2026-07-19T16:11:59Z</dcterms:modified>
</cp:coreProperties>
</file>